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3503" autoAdjust="0"/>
  </p:normalViewPr>
  <p:slideViewPr>
    <p:cSldViewPr snapToGrid="0">
      <p:cViewPr varScale="1">
        <p:scale>
          <a:sx n="104" d="100"/>
          <a:sy n="104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sandboxing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sz="3600" dirty="0" smtClean="0"/>
              <a:t>Cómputo en la niebla</a:t>
            </a:r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273418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57872" y="1853739"/>
            <a:ext cx="10547189" cy="4763192"/>
          </a:xfrm>
        </p:spPr>
        <p:txBody>
          <a:bodyPr>
            <a:normAutofit/>
          </a:bodyPr>
          <a:lstStyle/>
          <a:p>
            <a:pPr algn="just"/>
            <a:r>
              <a:rPr lang="es-MX" dirty="0"/>
              <a:t> </a:t>
            </a:r>
            <a:r>
              <a:rPr lang="es-MX" dirty="0" smtClean="0"/>
              <a:t>    El cómputo </a:t>
            </a:r>
            <a:r>
              <a:rPr lang="es-MX" dirty="0"/>
              <a:t>en la niebla surgió para cubrir la brecha entre dispositivos finales (sensores, actuadores, </a:t>
            </a:r>
            <a:r>
              <a:rPr lang="es-MX" dirty="0" err="1"/>
              <a:t>gateways</a:t>
            </a:r>
            <a:r>
              <a:rPr lang="es-MX" dirty="0"/>
              <a:t>) y la nube, ofreciendo procesamiento y servicios cercanos a la fuente de datos para reducir latencia, ancho de banda y mejorar la resiliencia. </a:t>
            </a:r>
            <a:endParaRPr lang="es-MX" dirty="0" smtClean="0"/>
          </a:p>
          <a:p>
            <a:pPr algn="just"/>
            <a:r>
              <a:rPr lang="es-MX" dirty="0" smtClean="0"/>
              <a:t>     Estas </a:t>
            </a:r>
            <a:r>
              <a:rPr lang="es-MX" dirty="0"/>
              <a:t>características incrementan el riesgo de abuso: </a:t>
            </a:r>
            <a:r>
              <a:rPr lang="es-MX" dirty="0" err="1"/>
              <a:t>exfiltración</a:t>
            </a:r>
            <a:r>
              <a:rPr lang="es-MX" dirty="0"/>
              <a:t> de datos, escalada de privilegios, </a:t>
            </a:r>
            <a:r>
              <a:rPr lang="es-MX" dirty="0" smtClean="0"/>
              <a:t>consumo </a:t>
            </a:r>
            <a:r>
              <a:rPr lang="es-MX" dirty="0"/>
              <a:t>de recursos, o persistencia de cargas maliciosas. </a:t>
            </a:r>
            <a:r>
              <a:rPr lang="es-MX" dirty="0" smtClean="0"/>
              <a:t>Para </a:t>
            </a:r>
            <a:r>
              <a:rPr lang="es-MX" dirty="0"/>
              <a:t>ello, el diseño de mecanismos de confinamiento (</a:t>
            </a:r>
            <a:r>
              <a:rPr lang="es-MX" dirty="0" err="1"/>
              <a:t>sandboxing</a:t>
            </a:r>
            <a:r>
              <a:rPr lang="es-MX" dirty="0"/>
              <a:t>) adaptados a las restricciones y requisitos del </a:t>
            </a:r>
            <a:r>
              <a:rPr lang="es-MX" dirty="0" err="1"/>
              <a:t>fog</a:t>
            </a:r>
            <a:r>
              <a:rPr lang="es-MX" dirty="0"/>
              <a:t> es crítico. </a:t>
            </a:r>
            <a:endParaRPr lang="es-MX" dirty="0" smtClean="0"/>
          </a:p>
          <a:p>
            <a:pPr algn="just"/>
            <a:r>
              <a:rPr lang="es-MX" b="1" dirty="0" smtClean="0"/>
              <a:t>     </a:t>
            </a:r>
            <a:r>
              <a:rPr lang="es-MX" b="1" dirty="0" err="1" smtClean="0"/>
              <a:t>Sandboxing</a:t>
            </a:r>
            <a:r>
              <a:rPr lang="es-MX" dirty="0" smtClean="0"/>
              <a:t> </a:t>
            </a:r>
            <a:r>
              <a:rPr lang="es-MX" dirty="0"/>
              <a:t>se refiere a un conjunto de técnicas que aíslan la ejecución de código, limitan sus capacidades (I/O, red, acceso a memoria), y controlan recursos (CPU, memoria, disco, tiempo), con el objetivo de proteger al host y otros </a:t>
            </a:r>
            <a:r>
              <a:rPr lang="es-MX" dirty="0" err="1"/>
              <a:t>tenants</a:t>
            </a:r>
            <a:r>
              <a:rPr lang="es-MX" dirty="0"/>
              <a:t> de comportamientos maliciosos o erróneos. En un entorno </a:t>
            </a:r>
            <a:r>
              <a:rPr lang="es-MX" dirty="0" err="1"/>
              <a:t>fog</a:t>
            </a:r>
            <a:r>
              <a:rPr lang="es-MX" dirty="0"/>
              <a:t>, el </a:t>
            </a:r>
            <a:r>
              <a:rPr lang="es-MX" dirty="0" err="1"/>
              <a:t>sandboxing</a:t>
            </a:r>
            <a:r>
              <a:rPr lang="es-MX" dirty="0"/>
              <a:t> cumple también la función inversa: proteger la confidencialidad e integridad del código y los datos del proveedor contra un host potencialmente no confiable (modelo de mutual </a:t>
            </a:r>
            <a:r>
              <a:rPr lang="es-MX" dirty="0" err="1"/>
              <a:t>distrust</a:t>
            </a:r>
            <a:r>
              <a:rPr lang="es-MX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341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é son los sistemas distribuidos y dónde se utilizan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690" y="132511"/>
            <a:ext cx="9075634" cy="646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8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4647" y="568154"/>
            <a:ext cx="9720072" cy="1499616"/>
          </a:xfrm>
        </p:spPr>
        <p:txBody>
          <a:bodyPr/>
          <a:lstStyle/>
          <a:p>
            <a:r>
              <a:rPr lang="es-MX" dirty="0" smtClean="0"/>
              <a:t>Clasificación</a:t>
            </a:r>
            <a:endParaRPr lang="es-MX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4647" y="1817339"/>
            <a:ext cx="11255433" cy="519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MX" b="1" dirty="0" smtClean="0"/>
              <a:t>Aislamiento </a:t>
            </a:r>
            <a:r>
              <a:rPr lang="es-MX" b="1" dirty="0"/>
              <a:t>a nivel de máquina/</a:t>
            </a:r>
            <a:r>
              <a:rPr lang="es-MX" b="1" dirty="0" err="1"/>
              <a:t>hipervisor</a:t>
            </a:r>
            <a:endParaRPr lang="es-MX" dirty="0"/>
          </a:p>
          <a:p>
            <a:pPr lvl="1" algn="just"/>
            <a:r>
              <a:rPr lang="es-MX" sz="2200" dirty="0"/>
              <a:t>Máquinas virtuales completas (</a:t>
            </a:r>
            <a:r>
              <a:rPr lang="es-MX" sz="2200" dirty="0" err="1"/>
              <a:t>VMs</a:t>
            </a:r>
            <a:r>
              <a:rPr lang="es-MX" sz="2200" dirty="0"/>
              <a:t>).</a:t>
            </a:r>
          </a:p>
          <a:p>
            <a:pPr lvl="1" algn="just"/>
            <a:r>
              <a:rPr lang="es-MX" sz="2200" dirty="0" err="1"/>
              <a:t>MicroVMs</a:t>
            </a:r>
            <a:r>
              <a:rPr lang="es-MX" sz="2200" dirty="0"/>
              <a:t> / </a:t>
            </a:r>
            <a:r>
              <a:rPr lang="es-MX" sz="2200" dirty="0" err="1"/>
              <a:t>VMs</a:t>
            </a:r>
            <a:r>
              <a:rPr lang="es-MX" sz="2200" dirty="0"/>
              <a:t> ligeras (p. ej., </a:t>
            </a:r>
            <a:r>
              <a:rPr lang="es-MX" sz="2200" dirty="0" err="1"/>
              <a:t>Firecracker</a:t>
            </a:r>
            <a:r>
              <a:rPr lang="es-MX" sz="2200" dirty="0"/>
              <a:t> en contextos </a:t>
            </a:r>
            <a:r>
              <a:rPr lang="es-MX" sz="2200" dirty="0" err="1"/>
              <a:t>serverless</a:t>
            </a:r>
            <a:r>
              <a:rPr lang="es-MX" sz="2200" dirty="0"/>
              <a:t>).</a:t>
            </a:r>
          </a:p>
          <a:p>
            <a:pPr algn="just"/>
            <a:r>
              <a:rPr lang="es-MX" b="1" dirty="0"/>
              <a:t>Aislamiento a nivel de sistema operativo / contenedor</a:t>
            </a:r>
            <a:endParaRPr lang="es-MX" dirty="0"/>
          </a:p>
          <a:p>
            <a:pPr lvl="1" algn="just"/>
            <a:r>
              <a:rPr lang="es-MX" sz="2200" dirty="0"/>
              <a:t>Contenedores Linux (</a:t>
            </a:r>
            <a:r>
              <a:rPr lang="es-MX" sz="2200" dirty="0" err="1"/>
              <a:t>namespaces</a:t>
            </a:r>
            <a:r>
              <a:rPr lang="es-MX" sz="2200" dirty="0"/>
              <a:t>, </a:t>
            </a:r>
            <a:r>
              <a:rPr lang="es-MX" sz="2200" dirty="0" err="1"/>
              <a:t>cgroups</a:t>
            </a:r>
            <a:r>
              <a:rPr lang="es-MX" sz="2200" dirty="0"/>
              <a:t>, </a:t>
            </a:r>
            <a:r>
              <a:rPr lang="es-MX" sz="2200" dirty="0" err="1"/>
              <a:t>seccomp</a:t>
            </a:r>
            <a:r>
              <a:rPr lang="es-MX" sz="2200" dirty="0"/>
              <a:t>).</a:t>
            </a:r>
          </a:p>
          <a:p>
            <a:pPr lvl="1" algn="just"/>
            <a:r>
              <a:rPr lang="es-MX" sz="2200" dirty="0" err="1"/>
              <a:t>Sandboxed</a:t>
            </a:r>
            <a:r>
              <a:rPr lang="es-MX" sz="2200" dirty="0"/>
              <a:t> </a:t>
            </a:r>
            <a:r>
              <a:rPr lang="es-MX" sz="2200" dirty="0" err="1"/>
              <a:t>containers</a:t>
            </a:r>
            <a:r>
              <a:rPr lang="es-MX" sz="2200" dirty="0"/>
              <a:t> y proyectos de </a:t>
            </a:r>
            <a:r>
              <a:rPr lang="es-MX" sz="2200" dirty="0" err="1"/>
              <a:t>hardening</a:t>
            </a:r>
            <a:r>
              <a:rPr lang="es-MX" sz="2200" dirty="0"/>
              <a:t> (</a:t>
            </a:r>
            <a:r>
              <a:rPr lang="es-MX" sz="2200" dirty="0" err="1"/>
              <a:t>gVisor</a:t>
            </a:r>
            <a:r>
              <a:rPr lang="es-MX" sz="2200" dirty="0"/>
              <a:t>, Kata </a:t>
            </a:r>
            <a:r>
              <a:rPr lang="es-MX" sz="2200" dirty="0" err="1"/>
              <a:t>Containers</a:t>
            </a:r>
            <a:r>
              <a:rPr lang="es-MX" sz="2200" dirty="0"/>
              <a:t>, Nabla, etc.). </a:t>
            </a:r>
          </a:p>
          <a:p>
            <a:pPr algn="just"/>
            <a:r>
              <a:rPr lang="es-MX" b="1" dirty="0"/>
              <a:t>Aislamiento por software y formato de ejecución</a:t>
            </a:r>
            <a:endParaRPr lang="es-MX" dirty="0"/>
          </a:p>
          <a:p>
            <a:pPr lvl="1" algn="just"/>
            <a:r>
              <a:rPr lang="es-MX" sz="2200" dirty="0"/>
              <a:t>Software </a:t>
            </a:r>
            <a:r>
              <a:rPr lang="es-MX" sz="2200" dirty="0" err="1"/>
              <a:t>Fault</a:t>
            </a:r>
            <a:r>
              <a:rPr lang="es-MX" sz="2200" dirty="0"/>
              <a:t> </a:t>
            </a:r>
            <a:r>
              <a:rPr lang="es-MX" sz="2200" dirty="0" err="1"/>
              <a:t>Isolation</a:t>
            </a:r>
            <a:r>
              <a:rPr lang="es-MX" sz="2200" dirty="0"/>
              <a:t> (SFI), </a:t>
            </a:r>
            <a:r>
              <a:rPr lang="es-MX" sz="2200" dirty="0" err="1"/>
              <a:t>sandboxing</a:t>
            </a:r>
            <a:r>
              <a:rPr lang="es-MX" sz="2200" dirty="0"/>
              <a:t> por instrumentación.</a:t>
            </a:r>
          </a:p>
          <a:p>
            <a:pPr lvl="1" algn="just"/>
            <a:r>
              <a:rPr lang="es-MX" sz="2200" dirty="0" err="1"/>
              <a:t>Bytecode</a:t>
            </a:r>
            <a:r>
              <a:rPr lang="es-MX" sz="2200" dirty="0"/>
              <a:t>/</a:t>
            </a:r>
            <a:r>
              <a:rPr lang="es-MX" sz="2200" dirty="0" err="1"/>
              <a:t>VMs</a:t>
            </a:r>
            <a:r>
              <a:rPr lang="es-MX" sz="2200" dirty="0"/>
              <a:t> seguras: </a:t>
            </a:r>
            <a:r>
              <a:rPr lang="es-MX" sz="2200" dirty="0" err="1"/>
              <a:t>WebAssembly</a:t>
            </a:r>
            <a:r>
              <a:rPr lang="es-MX" sz="2200" dirty="0"/>
              <a:t> (</a:t>
            </a:r>
            <a:r>
              <a:rPr lang="es-MX" sz="2200" dirty="0" err="1"/>
              <a:t>Wasm</a:t>
            </a:r>
            <a:r>
              <a:rPr lang="es-MX" sz="2200" dirty="0"/>
              <a:t>) como plataforma de </a:t>
            </a:r>
            <a:r>
              <a:rPr lang="es-MX" sz="2200" dirty="0" err="1"/>
              <a:t>sandboxing</a:t>
            </a:r>
            <a:r>
              <a:rPr lang="es-MX" sz="2200" dirty="0"/>
              <a:t> ligera. </a:t>
            </a:r>
          </a:p>
          <a:p>
            <a:pPr algn="just"/>
            <a:r>
              <a:rPr lang="es-MX" b="1" dirty="0"/>
              <a:t>Aislamiento basado en hardware (TEE / enclaves)</a:t>
            </a:r>
            <a:endParaRPr lang="es-MX" dirty="0"/>
          </a:p>
          <a:p>
            <a:pPr lvl="1" algn="just"/>
            <a:r>
              <a:rPr lang="es-MX" sz="2200" dirty="0"/>
              <a:t>Intel SGX, ARM </a:t>
            </a:r>
            <a:r>
              <a:rPr lang="es-MX" sz="2200" dirty="0" err="1"/>
              <a:t>TrustZone</a:t>
            </a:r>
            <a:r>
              <a:rPr lang="es-MX" sz="2200" dirty="0"/>
              <a:t>, AMD SEV: enclaves que protegen memoria y código frente al resto del sistema; permiten </a:t>
            </a:r>
            <a:r>
              <a:rPr lang="es-MX" sz="2200" i="1" dirty="0"/>
              <a:t>reverse </a:t>
            </a:r>
            <a:r>
              <a:rPr lang="es-MX" sz="2200" i="1" dirty="0" err="1"/>
              <a:t>sandboxing</a:t>
            </a:r>
            <a:r>
              <a:rPr lang="es-MX" sz="2200" dirty="0"/>
              <a:t> (proteger la ejecución ante un host malicioso).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97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Amenazas y requisitos de seguridad en </a:t>
            </a:r>
            <a:r>
              <a:rPr lang="es-MX" sz="3600" dirty="0" err="1"/>
              <a:t>fog</a:t>
            </a:r>
            <a:r>
              <a:rPr lang="es-MX" sz="3600" dirty="0"/>
              <a:t> </a:t>
            </a:r>
            <a:r>
              <a:rPr lang="es-MX" sz="3600" dirty="0" err="1"/>
              <a:t>computing</a:t>
            </a:r>
            <a:endParaRPr lang="es-MX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91125" y="2084832"/>
            <a:ext cx="10530562" cy="4023360"/>
          </a:xfrm>
        </p:spPr>
        <p:txBody>
          <a:bodyPr>
            <a:noAutofit/>
          </a:bodyPr>
          <a:lstStyle/>
          <a:p>
            <a:pPr algn="just"/>
            <a:r>
              <a:rPr lang="es-MX" sz="2400" b="1" dirty="0"/>
              <a:t>Principales vectores de ataque en </a:t>
            </a:r>
            <a:r>
              <a:rPr lang="es-MX" sz="2400" b="1" dirty="0" err="1"/>
              <a:t>fog</a:t>
            </a:r>
            <a:endParaRPr lang="es-MX" sz="2400" b="1" dirty="0"/>
          </a:p>
          <a:p>
            <a:pPr lvl="1" algn="just"/>
            <a:r>
              <a:rPr lang="es-MX" sz="2400" b="1" dirty="0"/>
              <a:t>Ejecución de código no confiable</a:t>
            </a:r>
            <a:r>
              <a:rPr lang="es-MX" sz="2400" dirty="0"/>
              <a:t>: módulos de terceros, funciones </a:t>
            </a:r>
            <a:r>
              <a:rPr lang="es-MX" sz="2400" dirty="0" err="1"/>
              <a:t>serverless</a:t>
            </a:r>
            <a:r>
              <a:rPr lang="es-MX" sz="2400" dirty="0"/>
              <a:t> y aplicaciones </a:t>
            </a:r>
            <a:r>
              <a:rPr lang="es-MX" sz="2400" dirty="0" err="1"/>
              <a:t>IoT</a:t>
            </a:r>
            <a:r>
              <a:rPr lang="es-MX" sz="2400" dirty="0"/>
              <a:t> que se </a:t>
            </a:r>
            <a:r>
              <a:rPr lang="es-MX" sz="2400" dirty="0" err="1"/>
              <a:t>desplegan</a:t>
            </a:r>
            <a:r>
              <a:rPr lang="es-MX" sz="2400" dirty="0"/>
              <a:t> dinámicamente.</a:t>
            </a:r>
          </a:p>
          <a:p>
            <a:pPr lvl="1" algn="just"/>
            <a:r>
              <a:rPr lang="es-MX" sz="2400" b="1" dirty="0"/>
              <a:t>Acceso físico y posterior compromiso</a:t>
            </a:r>
            <a:r>
              <a:rPr lang="es-MX" sz="2400" dirty="0"/>
              <a:t> del hardware de nodos </a:t>
            </a:r>
            <a:r>
              <a:rPr lang="es-MX" sz="2400" dirty="0" err="1"/>
              <a:t>fog</a:t>
            </a:r>
            <a:r>
              <a:rPr lang="es-MX" sz="2400" dirty="0"/>
              <a:t> (por su proximidad al usuario).</a:t>
            </a:r>
          </a:p>
          <a:p>
            <a:pPr lvl="1" algn="just"/>
            <a:r>
              <a:rPr lang="es-MX" sz="2400" b="1" dirty="0"/>
              <a:t>Movilidad y redes heterogéneas</a:t>
            </a:r>
            <a:r>
              <a:rPr lang="es-MX" sz="2400" dirty="0"/>
              <a:t>, que facilitan ataques MITM o inyección de tráfico.</a:t>
            </a:r>
          </a:p>
          <a:p>
            <a:pPr lvl="1" algn="just"/>
            <a:r>
              <a:rPr lang="es-MX" sz="2400" b="1" dirty="0" err="1"/>
              <a:t>Multi-tenancy</a:t>
            </a:r>
            <a:r>
              <a:rPr lang="es-MX" sz="2400" b="1" dirty="0"/>
              <a:t> y </a:t>
            </a:r>
            <a:r>
              <a:rPr lang="es-MX" sz="2400" b="1" dirty="0" err="1"/>
              <a:t>co</a:t>
            </a:r>
            <a:r>
              <a:rPr lang="es-MX" sz="2400" b="1" dirty="0"/>
              <a:t>-ubicación</a:t>
            </a:r>
            <a:r>
              <a:rPr lang="es-MX" sz="2400" dirty="0"/>
              <a:t>: conflicto por recursos y canal de comunicación lateral.</a:t>
            </a:r>
          </a:p>
          <a:p>
            <a:pPr lvl="1" algn="just"/>
            <a:r>
              <a:rPr lang="es-MX" sz="2400" b="1" dirty="0"/>
              <a:t>Escasez de recursos</a:t>
            </a:r>
            <a:r>
              <a:rPr lang="es-MX" sz="2400" dirty="0"/>
              <a:t>: ataques de agotamiento y </a:t>
            </a:r>
            <a:r>
              <a:rPr lang="es-MX" sz="2400" dirty="0" err="1"/>
              <a:t>DoS</a:t>
            </a:r>
            <a:r>
              <a:rPr lang="es-MX" sz="2400" dirty="0"/>
              <a:t> más efectivos en dispositivos limitados. </a:t>
            </a:r>
          </a:p>
          <a:p>
            <a:pPr algn="just"/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471749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41494" y="1571105"/>
            <a:ext cx="11045951" cy="5120640"/>
          </a:xfrm>
        </p:spPr>
        <p:txBody>
          <a:bodyPr>
            <a:noAutofit/>
          </a:bodyPr>
          <a:lstStyle/>
          <a:p>
            <a:pPr algn="just"/>
            <a:r>
              <a:rPr lang="es-MX" b="1" dirty="0"/>
              <a:t>Requisitos funcionales para </a:t>
            </a:r>
            <a:r>
              <a:rPr lang="es-MX" b="1" dirty="0" err="1"/>
              <a:t>sandboxes</a:t>
            </a:r>
            <a:r>
              <a:rPr lang="es-MX" b="1" dirty="0"/>
              <a:t> en </a:t>
            </a:r>
            <a:r>
              <a:rPr lang="es-MX" b="1" dirty="0" err="1"/>
              <a:t>fog</a:t>
            </a:r>
            <a:endParaRPr lang="es-MX" b="1" dirty="0"/>
          </a:p>
          <a:p>
            <a:pPr lvl="1" algn="just"/>
            <a:r>
              <a:rPr lang="es-MX" sz="2200" b="1" dirty="0"/>
              <a:t>Aislamiento fuerte</a:t>
            </a:r>
            <a:r>
              <a:rPr lang="es-MX" sz="2200" dirty="0"/>
              <a:t>: impedir que el código </a:t>
            </a:r>
            <a:r>
              <a:rPr lang="es-MX" sz="2200" dirty="0" err="1"/>
              <a:t>sandboxeado</a:t>
            </a:r>
            <a:r>
              <a:rPr lang="es-MX" sz="2200" dirty="0"/>
              <a:t> acceda a datos o procesos ajenos.</a:t>
            </a:r>
          </a:p>
          <a:p>
            <a:pPr lvl="1" algn="just"/>
            <a:r>
              <a:rPr lang="es-MX" sz="2200" b="1" dirty="0"/>
              <a:t>Aislamiento inverso (protección al código)</a:t>
            </a:r>
            <a:r>
              <a:rPr lang="es-MX" sz="2200" dirty="0"/>
              <a:t>: cuando el proveedor del código requiere que su lógica y datos permanezcan confidenciales frente al host </a:t>
            </a:r>
            <a:r>
              <a:rPr lang="es-MX" sz="2200" dirty="0" smtClean="0"/>
              <a:t>(verificación </a:t>
            </a:r>
            <a:r>
              <a:rPr lang="es-MX" sz="2200" dirty="0"/>
              <a:t>remota). </a:t>
            </a:r>
          </a:p>
          <a:p>
            <a:pPr lvl="1" algn="just"/>
            <a:r>
              <a:rPr lang="es-MX" sz="2200" b="1" dirty="0"/>
              <a:t>Bajo </a:t>
            </a:r>
            <a:r>
              <a:rPr lang="es-MX" sz="2200" b="1" dirty="0" err="1"/>
              <a:t>overhead</a:t>
            </a:r>
            <a:r>
              <a:rPr lang="es-MX" sz="2200" dirty="0"/>
              <a:t>: las técnicas deben introducir latencia y uso de recursos mínimos para no invalidar la ventaja de baja latencia del </a:t>
            </a:r>
            <a:r>
              <a:rPr lang="es-MX" sz="2200" dirty="0" err="1"/>
              <a:t>fog</a:t>
            </a:r>
            <a:r>
              <a:rPr lang="es-MX" sz="2200" dirty="0"/>
              <a:t>.</a:t>
            </a:r>
          </a:p>
          <a:p>
            <a:pPr lvl="1" algn="just"/>
            <a:r>
              <a:rPr lang="es-MX" sz="2200" b="1" dirty="0"/>
              <a:t>Portabilidad y heterogeneidad</a:t>
            </a:r>
            <a:r>
              <a:rPr lang="es-MX" sz="2200" dirty="0"/>
              <a:t>: soportar diferentes arquitecturas (x86, ARM), diversos SO y capacidades hardware.</a:t>
            </a:r>
          </a:p>
          <a:p>
            <a:pPr lvl="1" algn="just"/>
            <a:r>
              <a:rPr lang="es-MX" sz="2200" b="1" dirty="0"/>
              <a:t>Control y contabilidad de recursos</a:t>
            </a:r>
            <a:r>
              <a:rPr lang="es-MX" sz="2200" dirty="0"/>
              <a:t>: </a:t>
            </a:r>
            <a:r>
              <a:rPr lang="es-MX" sz="2200" dirty="0" err="1"/>
              <a:t>throttling</a:t>
            </a:r>
            <a:r>
              <a:rPr lang="es-MX" sz="2200" dirty="0"/>
              <a:t>, medición y facturación del uso (</a:t>
            </a:r>
            <a:r>
              <a:rPr lang="es-MX" sz="2200" dirty="0" err="1"/>
              <a:t>accounting</a:t>
            </a:r>
            <a:r>
              <a:rPr lang="es-MX" sz="2200" dirty="0"/>
              <a:t>). </a:t>
            </a:r>
            <a:r>
              <a:rPr lang="es-MX" sz="2200" dirty="0" err="1"/>
              <a:t>AccTEE</a:t>
            </a:r>
            <a:r>
              <a:rPr lang="es-MX" sz="2200" dirty="0"/>
              <a:t> es un ejemplo orientado a contabilidad confiable. </a:t>
            </a:r>
          </a:p>
          <a:p>
            <a:pPr lvl="1" algn="just"/>
            <a:r>
              <a:rPr lang="es-MX" sz="2200" b="1" dirty="0" err="1"/>
              <a:t>Attestation</a:t>
            </a:r>
            <a:r>
              <a:rPr lang="es-MX" sz="2200" b="1" dirty="0"/>
              <a:t> y verificación remota</a:t>
            </a:r>
            <a:r>
              <a:rPr lang="es-MX" sz="2200" dirty="0"/>
              <a:t>: el cliente/propietario debe poder verificar que su código se ejecuta en un entorno válido y no manipulado.</a:t>
            </a:r>
          </a:p>
          <a:p>
            <a:pPr lvl="1" algn="just"/>
            <a:r>
              <a:rPr lang="es-MX" sz="2200" b="1" dirty="0"/>
              <a:t>Gestión del ciclo de vida</a:t>
            </a:r>
            <a:r>
              <a:rPr lang="es-MX" sz="2200" dirty="0"/>
              <a:t>: despliegue, </a:t>
            </a:r>
            <a:r>
              <a:rPr lang="es-MX" sz="2200" dirty="0" err="1"/>
              <a:t>checkpointing</a:t>
            </a:r>
            <a:r>
              <a:rPr lang="es-MX" sz="2200" dirty="0"/>
              <a:t>, migración segura y terminación del </a:t>
            </a:r>
            <a:r>
              <a:rPr lang="es-MX" sz="2200" dirty="0" err="1"/>
              <a:t>sandbox</a:t>
            </a:r>
            <a:r>
              <a:rPr lang="es-MX" sz="2200" dirty="0"/>
              <a:t>.</a:t>
            </a:r>
          </a:p>
          <a:p>
            <a:pPr lvl="1" algn="just"/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199466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4498" y="468838"/>
            <a:ext cx="10779945" cy="1499616"/>
          </a:xfrm>
        </p:spPr>
        <p:txBody>
          <a:bodyPr>
            <a:normAutofit/>
          </a:bodyPr>
          <a:lstStyle/>
          <a:p>
            <a:r>
              <a:rPr lang="es-MX" sz="4400" dirty="0"/>
              <a:t>Criterios de diseño: una arquitectura propuesta para </a:t>
            </a:r>
            <a:r>
              <a:rPr lang="es-MX" sz="4400" dirty="0" err="1"/>
              <a:t>sandboxing</a:t>
            </a:r>
            <a:r>
              <a:rPr lang="es-MX" sz="4400" dirty="0"/>
              <a:t> en </a:t>
            </a:r>
            <a:r>
              <a:rPr lang="es-MX" sz="4400" dirty="0" err="1"/>
              <a:t>fog</a:t>
            </a:r>
            <a:endParaRPr lang="es-MX" sz="4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74498" y="1968454"/>
            <a:ext cx="10779945" cy="4565350"/>
          </a:xfrm>
        </p:spPr>
        <p:txBody>
          <a:bodyPr>
            <a:noAutofit/>
          </a:bodyPr>
          <a:lstStyle/>
          <a:p>
            <a:pPr algn="just"/>
            <a:r>
              <a:rPr lang="es-MX" b="1" dirty="0"/>
              <a:t>Componentes principales</a:t>
            </a:r>
          </a:p>
          <a:p>
            <a:pPr lvl="1" algn="just"/>
            <a:r>
              <a:rPr lang="es-MX" sz="2200" b="1" dirty="0"/>
              <a:t>Orquestador ligero</a:t>
            </a:r>
            <a:r>
              <a:rPr lang="es-MX" sz="2200" dirty="0"/>
              <a:t> (</a:t>
            </a:r>
            <a:r>
              <a:rPr lang="es-MX" sz="2200" dirty="0" err="1"/>
              <a:t>fog</a:t>
            </a:r>
            <a:r>
              <a:rPr lang="es-MX" sz="2200" dirty="0"/>
              <a:t> </a:t>
            </a:r>
            <a:r>
              <a:rPr lang="es-MX" sz="2200" dirty="0" err="1"/>
              <a:t>orchestrator</a:t>
            </a:r>
            <a:r>
              <a:rPr lang="es-MX" sz="2200" dirty="0"/>
              <a:t>): registra nodos, políticas, y gestiona despliegues. Debe soportar heterogeneidad y políticas de </a:t>
            </a:r>
            <a:r>
              <a:rPr lang="es-MX" sz="2200" dirty="0" err="1"/>
              <a:t>placement</a:t>
            </a:r>
            <a:r>
              <a:rPr lang="es-MX" sz="2200" dirty="0"/>
              <a:t> (por latencia, capacidad y seguridad).</a:t>
            </a:r>
          </a:p>
          <a:p>
            <a:pPr lvl="1" algn="just"/>
            <a:r>
              <a:rPr lang="es-MX" sz="2200" b="1" dirty="0"/>
              <a:t>Módulo de </a:t>
            </a:r>
            <a:r>
              <a:rPr lang="es-MX" sz="2200" b="1" dirty="0" err="1"/>
              <a:t>attestation</a:t>
            </a:r>
            <a:r>
              <a:rPr lang="es-MX" sz="2200" b="1" dirty="0"/>
              <a:t> y verificación</a:t>
            </a:r>
            <a:r>
              <a:rPr lang="es-MX" sz="2200" dirty="0"/>
              <a:t>: permite a un cliente verificar remotamente el entorno de ejecución (</a:t>
            </a:r>
            <a:r>
              <a:rPr lang="es-MX" sz="2200" dirty="0" err="1"/>
              <a:t>TEEs</a:t>
            </a:r>
            <a:r>
              <a:rPr lang="es-MX" sz="2200" dirty="0"/>
              <a:t>, hashes de </a:t>
            </a:r>
            <a:r>
              <a:rPr lang="es-MX" sz="2200" dirty="0" err="1"/>
              <a:t>runtime</a:t>
            </a:r>
            <a:r>
              <a:rPr lang="es-MX" sz="2200" dirty="0"/>
              <a:t>, políticas </a:t>
            </a:r>
            <a:r>
              <a:rPr lang="es-MX" sz="2200" dirty="0" err="1"/>
              <a:t>seccomp</a:t>
            </a:r>
            <a:r>
              <a:rPr lang="es-MX" sz="2200" dirty="0"/>
              <a:t>).</a:t>
            </a:r>
          </a:p>
          <a:p>
            <a:pPr lvl="1" algn="just"/>
            <a:r>
              <a:rPr lang="es-MX" sz="2200" b="1" dirty="0" err="1"/>
              <a:t>Runtime</a:t>
            </a:r>
            <a:r>
              <a:rPr lang="es-MX" sz="2200" b="1" dirty="0"/>
              <a:t> de </a:t>
            </a:r>
            <a:r>
              <a:rPr lang="es-MX" sz="2200" b="1" dirty="0" err="1"/>
              <a:t>sandbox</a:t>
            </a:r>
            <a:r>
              <a:rPr lang="es-MX" sz="2200" dirty="0"/>
              <a:t>: componente local que lanza </a:t>
            </a:r>
            <a:r>
              <a:rPr lang="es-MX" sz="2200" dirty="0" err="1"/>
              <a:t>sandboxes</a:t>
            </a:r>
            <a:r>
              <a:rPr lang="es-MX" sz="2200" dirty="0"/>
              <a:t> en una de las modalidades: </a:t>
            </a:r>
            <a:r>
              <a:rPr lang="es-MX" sz="2200" dirty="0" err="1"/>
              <a:t>Wasm</a:t>
            </a:r>
            <a:r>
              <a:rPr lang="es-MX" sz="2200" dirty="0"/>
              <a:t> </a:t>
            </a:r>
            <a:r>
              <a:rPr lang="es-MX" sz="2200" dirty="0" err="1"/>
              <a:t>runtime</a:t>
            </a:r>
            <a:r>
              <a:rPr lang="es-MX" sz="2200" dirty="0"/>
              <a:t>, </a:t>
            </a:r>
            <a:r>
              <a:rPr lang="es-MX" sz="2200" dirty="0" err="1"/>
              <a:t>microVM</a:t>
            </a:r>
            <a:r>
              <a:rPr lang="es-MX" sz="2200" dirty="0"/>
              <a:t>, contenedor reforzado o enclave.</a:t>
            </a:r>
          </a:p>
          <a:p>
            <a:pPr lvl="1" algn="just"/>
            <a:r>
              <a:rPr lang="es-MX" sz="2200" b="1" dirty="0"/>
              <a:t>Monitor de recursos y </a:t>
            </a:r>
            <a:r>
              <a:rPr lang="es-MX" sz="2200" b="1" dirty="0" err="1"/>
              <a:t>accounting</a:t>
            </a:r>
            <a:r>
              <a:rPr lang="es-MX" sz="2200" dirty="0"/>
              <a:t>: mide uso de CPU, memoria, I/O y aplica cuotas; brinda datos para facturación y detección de abuso (</a:t>
            </a:r>
            <a:r>
              <a:rPr lang="es-MX" sz="2200" dirty="0" err="1"/>
              <a:t>DoS</a:t>
            </a:r>
            <a:r>
              <a:rPr lang="es-MX" sz="2200" dirty="0"/>
              <a:t>).</a:t>
            </a:r>
          </a:p>
          <a:p>
            <a:pPr lvl="1" algn="just"/>
            <a:r>
              <a:rPr lang="es-MX" sz="2200" b="1" dirty="0"/>
              <a:t>Política de seguridad y </a:t>
            </a:r>
            <a:r>
              <a:rPr lang="es-MX" sz="2200" b="1" dirty="0" err="1"/>
              <a:t>gateway</a:t>
            </a:r>
            <a:r>
              <a:rPr lang="es-MX" sz="2200" dirty="0"/>
              <a:t>: controla qué host </a:t>
            </a:r>
            <a:r>
              <a:rPr lang="es-MX" sz="2200" dirty="0" err="1"/>
              <a:t>APIs</a:t>
            </a:r>
            <a:r>
              <a:rPr lang="es-MX" sz="2200" dirty="0"/>
              <a:t> o sensores están disponibles para cada </a:t>
            </a:r>
            <a:r>
              <a:rPr lang="es-MX" sz="2200" dirty="0" err="1"/>
              <a:t>sandbox</a:t>
            </a:r>
            <a:r>
              <a:rPr lang="es-MX" sz="2200" dirty="0"/>
              <a:t> y aplica </a:t>
            </a:r>
            <a:r>
              <a:rPr lang="es-MX" sz="2200" dirty="0" err="1"/>
              <a:t>guardrails</a:t>
            </a:r>
            <a:r>
              <a:rPr lang="es-MX" sz="2200" dirty="0"/>
              <a:t> (lista blanca).</a:t>
            </a:r>
          </a:p>
          <a:p>
            <a:pPr lvl="1" algn="just"/>
            <a:r>
              <a:rPr lang="es-MX" sz="2200" b="1" dirty="0"/>
              <a:t>Registro y auditoría</a:t>
            </a:r>
            <a:r>
              <a:rPr lang="es-MX" sz="2200" dirty="0"/>
              <a:t>: </a:t>
            </a:r>
            <a:r>
              <a:rPr lang="es-MX" sz="2200" dirty="0" err="1"/>
              <a:t>logs</a:t>
            </a:r>
            <a:r>
              <a:rPr lang="es-MX" sz="2200" dirty="0"/>
              <a:t> inmutables sobre despliegues, eventos de seguridad y métricas operativas.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1575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07998" y="1421476"/>
            <a:ext cx="10996075" cy="5436524"/>
          </a:xfrm>
        </p:spPr>
        <p:txBody>
          <a:bodyPr>
            <a:noAutofit/>
          </a:bodyPr>
          <a:lstStyle/>
          <a:p>
            <a:pPr algn="just"/>
            <a:r>
              <a:rPr lang="es-MX" b="1" dirty="0"/>
              <a:t>Flujo de despliegue (resumido)</a:t>
            </a:r>
          </a:p>
          <a:p>
            <a:pPr lvl="1" algn="just"/>
            <a:r>
              <a:rPr lang="es-MX" sz="2200" dirty="0"/>
              <a:t>Cliente firma paquete de ejecución (o proveedor) y envía solicitud al orquestador.</a:t>
            </a:r>
          </a:p>
          <a:p>
            <a:pPr lvl="1" algn="just"/>
            <a:r>
              <a:rPr lang="es-MX" sz="2200" dirty="0"/>
              <a:t>El orquestador selecciona un nodo </a:t>
            </a:r>
            <a:r>
              <a:rPr lang="es-MX" sz="2200" dirty="0" err="1"/>
              <a:t>fog</a:t>
            </a:r>
            <a:r>
              <a:rPr lang="es-MX" sz="2200" dirty="0"/>
              <a:t> que cumpla requisitos (latencia, TEE disponible si se requiere).</a:t>
            </a:r>
          </a:p>
          <a:p>
            <a:pPr lvl="1" algn="just"/>
            <a:r>
              <a:rPr lang="es-MX" sz="2200" dirty="0"/>
              <a:t>El orquestador pide </a:t>
            </a:r>
            <a:r>
              <a:rPr lang="es-MX" sz="2200" dirty="0" err="1"/>
              <a:t>attestation</a:t>
            </a:r>
            <a:r>
              <a:rPr lang="es-MX" sz="2200" dirty="0"/>
              <a:t> al nodo; el cliente valida la evidencia.</a:t>
            </a:r>
          </a:p>
          <a:p>
            <a:pPr lvl="1" algn="just"/>
            <a:r>
              <a:rPr lang="es-MX" sz="2200" dirty="0"/>
              <a:t>Si es aceptado, el </a:t>
            </a:r>
            <a:r>
              <a:rPr lang="es-MX" sz="2200" dirty="0" err="1"/>
              <a:t>runtime</a:t>
            </a:r>
            <a:r>
              <a:rPr lang="es-MX" sz="2200" dirty="0"/>
              <a:t> lanza el </a:t>
            </a:r>
            <a:r>
              <a:rPr lang="es-MX" sz="2200" dirty="0" err="1"/>
              <a:t>sandbox</a:t>
            </a:r>
            <a:r>
              <a:rPr lang="es-MX" sz="2200" dirty="0"/>
              <a:t> (</a:t>
            </a:r>
            <a:r>
              <a:rPr lang="es-MX" sz="2200" dirty="0" err="1"/>
              <a:t>Wasm</a:t>
            </a:r>
            <a:r>
              <a:rPr lang="es-MX" sz="2200" dirty="0"/>
              <a:t>, </a:t>
            </a:r>
            <a:r>
              <a:rPr lang="es-MX" sz="2200" dirty="0" err="1"/>
              <a:t>microVM</a:t>
            </a:r>
            <a:r>
              <a:rPr lang="es-MX" sz="2200" dirty="0"/>
              <a:t>, enclave) con políticas de recursos y red.</a:t>
            </a:r>
          </a:p>
          <a:p>
            <a:pPr lvl="1" algn="just"/>
            <a:r>
              <a:rPr lang="es-MX" sz="2200" dirty="0"/>
              <a:t>El módulo de </a:t>
            </a:r>
            <a:r>
              <a:rPr lang="es-MX" sz="2200" dirty="0" err="1"/>
              <a:t>accounting</a:t>
            </a:r>
            <a:r>
              <a:rPr lang="es-MX" sz="2200" dirty="0"/>
              <a:t> monitoriza y reporta. En migración, se negocia re-</a:t>
            </a:r>
            <a:r>
              <a:rPr lang="es-MX" sz="2200" dirty="0" err="1"/>
              <a:t>attestation</a:t>
            </a:r>
            <a:r>
              <a:rPr lang="es-MX" sz="2200" dirty="0"/>
              <a:t>.</a:t>
            </a:r>
          </a:p>
          <a:p>
            <a:pPr algn="just"/>
            <a:r>
              <a:rPr lang="es-MX" b="1" dirty="0" smtClean="0"/>
              <a:t>Recomendaciones </a:t>
            </a:r>
            <a:r>
              <a:rPr lang="es-MX" b="1" dirty="0"/>
              <a:t>por tipo de </a:t>
            </a:r>
            <a:r>
              <a:rPr lang="es-MX" b="1" dirty="0" err="1"/>
              <a:t>workload</a:t>
            </a:r>
            <a:endParaRPr lang="es-MX" b="1" dirty="0"/>
          </a:p>
          <a:p>
            <a:pPr lvl="1" algn="just"/>
            <a:r>
              <a:rPr lang="es-MX" sz="2200" b="1" dirty="0"/>
              <a:t>Funciones efímeras y latencia crítica</a:t>
            </a:r>
            <a:r>
              <a:rPr lang="es-MX" sz="2200" dirty="0"/>
              <a:t>: </a:t>
            </a:r>
            <a:r>
              <a:rPr lang="es-MX" sz="2200" dirty="0" err="1"/>
              <a:t>Wasm</a:t>
            </a:r>
            <a:r>
              <a:rPr lang="es-MX" sz="2200" dirty="0"/>
              <a:t> en </a:t>
            </a:r>
            <a:r>
              <a:rPr lang="es-MX" sz="2200" dirty="0" err="1"/>
              <a:t>runtimes</a:t>
            </a:r>
            <a:r>
              <a:rPr lang="es-MX" sz="2200" dirty="0"/>
              <a:t> optimizados (</a:t>
            </a:r>
            <a:r>
              <a:rPr lang="es-MX" sz="2200" dirty="0" err="1"/>
              <a:t>Wasmtime</a:t>
            </a:r>
            <a:r>
              <a:rPr lang="es-MX" sz="2200" dirty="0"/>
              <a:t>/</a:t>
            </a:r>
            <a:r>
              <a:rPr lang="es-MX" sz="2200" dirty="0" err="1"/>
              <a:t>Wasmer</a:t>
            </a:r>
            <a:r>
              <a:rPr lang="es-MX" sz="2200" dirty="0"/>
              <a:t>) o </a:t>
            </a:r>
            <a:r>
              <a:rPr lang="es-MX" sz="2200" dirty="0" err="1"/>
              <a:t>microVMs</a:t>
            </a:r>
            <a:r>
              <a:rPr lang="es-MX" sz="2200" dirty="0"/>
              <a:t> si requiere </a:t>
            </a:r>
            <a:r>
              <a:rPr lang="es-MX" sz="2200" dirty="0" err="1"/>
              <a:t>syscall</a:t>
            </a:r>
            <a:r>
              <a:rPr lang="es-MX" sz="2200" dirty="0"/>
              <a:t> completos. </a:t>
            </a:r>
          </a:p>
          <a:p>
            <a:pPr lvl="1" algn="just"/>
            <a:r>
              <a:rPr lang="es-MX" sz="2200" b="1" dirty="0"/>
              <a:t>Procesamiento confidencial</a:t>
            </a:r>
            <a:r>
              <a:rPr lang="es-MX" sz="2200" dirty="0"/>
              <a:t>: </a:t>
            </a:r>
            <a:r>
              <a:rPr lang="es-MX" sz="2200" dirty="0" err="1"/>
              <a:t>TEEs</a:t>
            </a:r>
            <a:r>
              <a:rPr lang="es-MX" sz="2200" dirty="0"/>
              <a:t> con </a:t>
            </a:r>
            <a:r>
              <a:rPr lang="es-MX" sz="2200" dirty="0" err="1"/>
              <a:t>attestation</a:t>
            </a:r>
            <a:r>
              <a:rPr lang="es-MX" sz="2200" dirty="0"/>
              <a:t> y auditoría; combinar con </a:t>
            </a:r>
            <a:r>
              <a:rPr lang="es-MX" sz="2200" dirty="0" err="1"/>
              <a:t>Wasm</a:t>
            </a:r>
            <a:r>
              <a:rPr lang="es-MX" sz="2200" dirty="0"/>
              <a:t> para portabilidad. </a:t>
            </a:r>
          </a:p>
          <a:p>
            <a:pPr lvl="1" algn="just"/>
            <a:r>
              <a:rPr lang="es-MX" sz="2200" b="1" dirty="0"/>
              <a:t>Cargas pesadas y </a:t>
            </a:r>
            <a:r>
              <a:rPr lang="es-MX" sz="2200" b="1" dirty="0" err="1"/>
              <a:t>multi-process</a:t>
            </a:r>
            <a:r>
              <a:rPr lang="es-MX" sz="2200" dirty="0"/>
              <a:t>: </a:t>
            </a:r>
            <a:r>
              <a:rPr lang="es-MX" sz="2200" dirty="0" err="1"/>
              <a:t>microVMs</a:t>
            </a:r>
            <a:r>
              <a:rPr lang="es-MX" sz="2200" dirty="0"/>
              <a:t> o contenedores reforzados (Kata) en nodos con recursos. 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473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/>
              <a:t>Uso de </a:t>
            </a:r>
            <a:r>
              <a:rPr lang="es-MX" sz="4800" dirty="0" err="1"/>
              <a:t>sandboxing</a:t>
            </a:r>
            <a:r>
              <a:rPr lang="es-MX" sz="4800" dirty="0"/>
              <a:t> en ciudades inteligentes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4127" y="1936866"/>
            <a:ext cx="10597066" cy="4023360"/>
          </a:xfrm>
        </p:spPr>
        <p:txBody>
          <a:bodyPr>
            <a:normAutofit/>
          </a:bodyPr>
          <a:lstStyle/>
          <a:p>
            <a:pPr algn="just"/>
            <a:r>
              <a:rPr lang="es-MX" sz="2400" dirty="0" smtClean="0"/>
              <a:t>     Las </a:t>
            </a:r>
            <a:r>
              <a:rPr lang="es-MX" sz="2400" dirty="0"/>
              <a:t>ciudades inteligentes dependen de infraestructuras digitales que procesan grandes volúmenes de datos en tiempo real. Tecnologías como </a:t>
            </a:r>
            <a:r>
              <a:rPr lang="es-MX" sz="2400" dirty="0" err="1"/>
              <a:t>IoT</a:t>
            </a:r>
            <a:r>
              <a:rPr lang="es-MX" sz="2400" dirty="0"/>
              <a:t>, 5G, </a:t>
            </a:r>
            <a:r>
              <a:rPr lang="es-MX" sz="2400" dirty="0" err="1"/>
              <a:t>edge</a:t>
            </a:r>
            <a:r>
              <a:rPr lang="es-MX" sz="2400" dirty="0"/>
              <a:t> </a:t>
            </a:r>
            <a:r>
              <a:rPr lang="es-MX" sz="2400" dirty="0" err="1"/>
              <a:t>computing</a:t>
            </a:r>
            <a:r>
              <a:rPr lang="es-MX" sz="2400" dirty="0"/>
              <a:t> y </a:t>
            </a:r>
            <a:r>
              <a:rPr lang="es-MX" sz="2400" dirty="0" err="1"/>
              <a:t>fog</a:t>
            </a:r>
            <a:r>
              <a:rPr lang="es-MX" sz="2400" dirty="0"/>
              <a:t> </a:t>
            </a:r>
            <a:r>
              <a:rPr lang="es-MX" sz="2400" dirty="0" err="1"/>
              <a:t>computing</a:t>
            </a:r>
            <a:r>
              <a:rPr lang="es-MX" sz="2400" dirty="0"/>
              <a:t> permiten:</a:t>
            </a:r>
          </a:p>
          <a:p>
            <a:pPr lvl="2" algn="just"/>
            <a:r>
              <a:rPr lang="es-MX" sz="2400" dirty="0"/>
              <a:t>Monitoreo ambiental continuo.</a:t>
            </a:r>
          </a:p>
          <a:p>
            <a:pPr lvl="2" algn="just"/>
            <a:r>
              <a:rPr lang="es-MX" sz="2400" dirty="0"/>
              <a:t>Control adaptativo del tráfico.</a:t>
            </a:r>
          </a:p>
          <a:p>
            <a:pPr lvl="2" algn="just"/>
            <a:r>
              <a:rPr lang="es-MX" sz="2400" dirty="0"/>
              <a:t>Respuesta automática ante emergencias.</a:t>
            </a:r>
          </a:p>
          <a:p>
            <a:pPr lvl="2" algn="just"/>
            <a:r>
              <a:rPr lang="es-MX" sz="2400" dirty="0"/>
              <a:t>Gestión energética eficiente.</a:t>
            </a:r>
          </a:p>
          <a:p>
            <a:pPr lvl="2" algn="just"/>
            <a:r>
              <a:rPr lang="es-MX" sz="2400" dirty="0"/>
              <a:t>Servicios digitales personalizados para </a:t>
            </a:r>
            <a:r>
              <a:rPr lang="es-MX" sz="2400" dirty="0" smtClean="0"/>
              <a:t>ciudadanos.</a:t>
            </a:r>
          </a:p>
          <a:p>
            <a:pPr marL="0" indent="-45720" algn="just">
              <a:buNone/>
            </a:pPr>
            <a:r>
              <a:rPr lang="es-MX" sz="2400" dirty="0" smtClean="0"/>
              <a:t>     El </a:t>
            </a:r>
            <a:r>
              <a:rPr lang="es-MX" sz="2400" dirty="0" err="1"/>
              <a:t>sandboxing</a:t>
            </a:r>
            <a:r>
              <a:rPr lang="es-MX" sz="2400" dirty="0"/>
              <a:t> garantiza aislamiento entre aplicaciones y protege tanto al host como a los demás usuarios del sistema.</a:t>
            </a:r>
          </a:p>
          <a:p>
            <a:pPr algn="just"/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263327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Protección de datos personales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74498" y="1770610"/>
            <a:ext cx="10713444" cy="4862945"/>
          </a:xfrm>
        </p:spPr>
        <p:txBody>
          <a:bodyPr>
            <a:noAutofit/>
          </a:bodyPr>
          <a:lstStyle/>
          <a:p>
            <a:pPr algn="just"/>
            <a:r>
              <a:rPr lang="es-MX" sz="2000" dirty="0" smtClean="0"/>
              <a:t>     Esto </a:t>
            </a:r>
            <a:r>
              <a:rPr lang="es-MX" sz="2000" dirty="0"/>
              <a:t>es especialmente relevante bajo marcos regulatorios como GDPR en Europa o leyes locales de protección de </a:t>
            </a:r>
            <a:r>
              <a:rPr lang="es-MX" sz="2000" dirty="0" smtClean="0"/>
              <a:t>datos en cada país:</a:t>
            </a:r>
          </a:p>
          <a:p>
            <a:pPr algn="just"/>
            <a:r>
              <a:rPr lang="es-MX" sz="2000" dirty="0" smtClean="0"/>
              <a:t>     Las </a:t>
            </a:r>
            <a:r>
              <a:rPr lang="es-MX" sz="2000" dirty="0"/>
              <a:t>ciudades inteligentes recopilan datos sensibles:</a:t>
            </a:r>
          </a:p>
          <a:p>
            <a:pPr lvl="3" algn="just"/>
            <a:r>
              <a:rPr lang="es-MX" sz="2000" dirty="0"/>
              <a:t>Ubicación de ciudadanos.</a:t>
            </a:r>
          </a:p>
          <a:p>
            <a:pPr lvl="3" algn="just"/>
            <a:r>
              <a:rPr lang="es-MX" sz="2000" dirty="0"/>
              <a:t>Imágenes de cámaras.</a:t>
            </a:r>
          </a:p>
          <a:p>
            <a:pPr lvl="3" algn="just"/>
            <a:r>
              <a:rPr lang="es-MX" sz="2000" dirty="0"/>
              <a:t>Datos biométricos.</a:t>
            </a:r>
          </a:p>
          <a:p>
            <a:pPr lvl="3" algn="just"/>
            <a:r>
              <a:rPr lang="es-MX" sz="2000" dirty="0"/>
              <a:t>Información médica.</a:t>
            </a:r>
          </a:p>
          <a:p>
            <a:pPr lvl="3" algn="just"/>
            <a:r>
              <a:rPr lang="es-MX" sz="2000" dirty="0"/>
              <a:t>Datos de consumo energético.</a:t>
            </a:r>
          </a:p>
          <a:p>
            <a:pPr algn="just"/>
            <a:r>
              <a:rPr lang="es-MX" sz="2000" dirty="0" smtClean="0"/>
              <a:t>     El </a:t>
            </a:r>
            <a:r>
              <a:rPr lang="es-MX" sz="2000" dirty="0" err="1"/>
              <a:t>sandboxing</a:t>
            </a:r>
            <a:r>
              <a:rPr lang="es-MX" sz="2000" dirty="0"/>
              <a:t> puede proteger estos datos mediante:</a:t>
            </a:r>
          </a:p>
          <a:p>
            <a:pPr lvl="3" algn="just"/>
            <a:r>
              <a:rPr lang="es-MX" sz="2000" dirty="0"/>
              <a:t>Aislamiento de memoria.</a:t>
            </a:r>
          </a:p>
          <a:p>
            <a:pPr lvl="3" algn="just"/>
            <a:r>
              <a:rPr lang="es-MX" sz="2000" dirty="0"/>
              <a:t>Restricción de acceso a disco.</a:t>
            </a:r>
          </a:p>
          <a:p>
            <a:pPr lvl="3" algn="just"/>
            <a:r>
              <a:rPr lang="es-MX" sz="2000" dirty="0"/>
              <a:t>Control de </a:t>
            </a:r>
            <a:r>
              <a:rPr lang="es-MX" sz="2000" dirty="0" err="1"/>
              <a:t>APIs</a:t>
            </a:r>
            <a:r>
              <a:rPr lang="es-MX" sz="2000" dirty="0"/>
              <a:t> del sistema.</a:t>
            </a:r>
          </a:p>
          <a:p>
            <a:pPr lvl="3" algn="just"/>
            <a:r>
              <a:rPr lang="es-MX" sz="2000" dirty="0"/>
              <a:t>Ejecución dentro de enclaves seguro</a:t>
            </a:r>
          </a:p>
          <a:p>
            <a:pPr algn="just"/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58723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65</TotalTime>
  <Words>1050</Words>
  <Application>Microsoft Office PowerPoint</Application>
  <PresentationFormat>Panorámica</PresentationFormat>
  <Paragraphs>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Tw Cen MT</vt:lpstr>
      <vt:lpstr>Tw Cen MT Condensed</vt:lpstr>
      <vt:lpstr>Wingdings 3</vt:lpstr>
      <vt:lpstr>Integral</vt:lpstr>
      <vt:lpstr>sandboxing</vt:lpstr>
      <vt:lpstr>Introducción</vt:lpstr>
      <vt:lpstr>Presentación de PowerPoint</vt:lpstr>
      <vt:lpstr>Clasificación</vt:lpstr>
      <vt:lpstr>Amenazas y requisitos de seguridad en fog computing</vt:lpstr>
      <vt:lpstr>Presentación de PowerPoint</vt:lpstr>
      <vt:lpstr>Criterios de diseño: una arquitectura propuesta para sandboxing en fog</vt:lpstr>
      <vt:lpstr>Presentación de PowerPoint</vt:lpstr>
      <vt:lpstr>Uso de sandboxing en ciudades inteligentes</vt:lpstr>
      <vt:lpstr>Protección de datos personales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sandboxing</dc:title>
  <dc:creator>Titulacion</dc:creator>
  <cp:lastModifiedBy>Titulacion</cp:lastModifiedBy>
  <cp:revision>6</cp:revision>
  <dcterms:created xsi:type="dcterms:W3CDTF">2026-02-19T17:30:02Z</dcterms:created>
  <dcterms:modified xsi:type="dcterms:W3CDTF">2026-02-19T22:24:33Z</dcterms:modified>
</cp:coreProperties>
</file>