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8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REDES WIFI EN PETROQUÍMICA LINCE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CÓMPUTO EN LA NIEBLA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9594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¿qué es una petroquímica?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87395" y="2324114"/>
            <a:ext cx="10427236" cy="3256289"/>
          </a:xfrm>
        </p:spPr>
        <p:txBody>
          <a:bodyPr>
            <a:normAutofit/>
          </a:bodyPr>
          <a:lstStyle/>
          <a:p>
            <a:pPr algn="just"/>
            <a:r>
              <a:rPr lang="es-MX" sz="3600" dirty="0" smtClean="0"/>
              <a:t>     La </a:t>
            </a:r>
            <a:r>
              <a:rPr lang="es-MX" sz="3600" b="1" dirty="0" smtClean="0"/>
              <a:t>petroquímica</a:t>
            </a:r>
            <a:r>
              <a:rPr lang="es-MX" sz="3600" dirty="0" smtClean="0"/>
              <a:t> </a:t>
            </a:r>
            <a:r>
              <a:rPr lang="es-MX" sz="3600" dirty="0"/>
              <a:t>es la rama de la industria química que transforma el petróleo y el gas natural en materias primas (productos petroquímicos básicos) y, posteriormente, en </a:t>
            </a:r>
            <a:r>
              <a:rPr lang="es-MX" sz="3600" dirty="0" smtClean="0"/>
              <a:t>productos </a:t>
            </a:r>
            <a:r>
              <a:rPr lang="es-MX" sz="3600" dirty="0"/>
              <a:t>finales de alto valor añadido</a:t>
            </a:r>
            <a:r>
              <a:rPr lang="es-MX" sz="3600" dirty="0" smtClean="0"/>
              <a:t>.</a:t>
            </a:r>
          </a:p>
          <a:p>
            <a:pPr algn="just"/>
            <a:endParaRPr lang="es-MX" sz="3600" dirty="0"/>
          </a:p>
          <a:p>
            <a:pPr algn="just"/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234585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Riesgo principal: atmósferas explosivas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4127" y="1964266"/>
            <a:ext cx="10321206" cy="4385734"/>
          </a:xfrm>
        </p:spPr>
        <p:txBody>
          <a:bodyPr>
            <a:noAutofit/>
          </a:bodyPr>
          <a:lstStyle/>
          <a:p>
            <a:r>
              <a:rPr lang="es-MX" sz="2400" dirty="0"/>
              <a:t>En laboratorios petroquímicos pueden existir:</a:t>
            </a:r>
          </a:p>
          <a:p>
            <a:pPr lvl="1"/>
            <a:r>
              <a:rPr lang="es-MX" sz="2400" dirty="0"/>
              <a:t>Vapores de hidrocarburos</a:t>
            </a:r>
          </a:p>
          <a:p>
            <a:pPr lvl="1"/>
            <a:r>
              <a:rPr lang="es-MX" sz="2400" dirty="0"/>
              <a:t>Gases inflamables</a:t>
            </a:r>
          </a:p>
          <a:p>
            <a:pPr lvl="1"/>
            <a:r>
              <a:rPr lang="es-MX" sz="2400" dirty="0"/>
              <a:t>Solventes volátiles</a:t>
            </a:r>
          </a:p>
          <a:p>
            <a:pPr lvl="1"/>
            <a:r>
              <a:rPr lang="es-MX" sz="2400" dirty="0"/>
              <a:t>Mezclas aire–combustible</a:t>
            </a:r>
          </a:p>
          <a:p>
            <a:r>
              <a:rPr lang="es-MX" sz="2400" dirty="0"/>
              <a:t>En estas condiciones, cualquier equipo eléctrico puede generar:</a:t>
            </a:r>
          </a:p>
          <a:p>
            <a:pPr lvl="1"/>
            <a:r>
              <a:rPr lang="es-MX" sz="2400" dirty="0"/>
              <a:t>Chispas</a:t>
            </a:r>
          </a:p>
          <a:p>
            <a:pPr lvl="1"/>
            <a:r>
              <a:rPr lang="es-MX" sz="2400" dirty="0"/>
              <a:t>Arcos eléctricos</a:t>
            </a:r>
          </a:p>
          <a:p>
            <a:pPr lvl="1"/>
            <a:r>
              <a:rPr lang="es-MX" sz="2400" dirty="0"/>
              <a:t>Calor excesivo</a:t>
            </a:r>
          </a:p>
          <a:p>
            <a:pPr lvl="1"/>
            <a:r>
              <a:rPr lang="es-MX" sz="2400" dirty="0"/>
              <a:t>Esto podría provocar una explosión si no está adecuadamente certificado.</a:t>
            </a:r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23575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USO EN LABORATORIO LINCE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00236" y="2724026"/>
            <a:ext cx="10681039" cy="2275264"/>
          </a:xfrm>
        </p:spPr>
        <p:txBody>
          <a:bodyPr>
            <a:normAutofit/>
          </a:bodyPr>
          <a:lstStyle/>
          <a:p>
            <a:pPr algn="just"/>
            <a:r>
              <a:rPr lang="es-MX" sz="3200" dirty="0" smtClean="0"/>
              <a:t>     El </a:t>
            </a:r>
            <a:r>
              <a:rPr lang="es-MX" sz="3200" dirty="0"/>
              <a:t>uso está estrictamente regulado por normas de seguridad industrial, especialmente porque en estos entornos pueden existir </a:t>
            </a:r>
            <a:r>
              <a:rPr lang="es-MX" sz="3200" b="1" dirty="0"/>
              <a:t>atmósferas explosivas</a:t>
            </a:r>
            <a:r>
              <a:rPr lang="es-MX" sz="3200" dirty="0"/>
              <a:t> (vapores inflamables, gases o polvos combustibles).</a:t>
            </a:r>
          </a:p>
          <a:p>
            <a:pPr algn="just"/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141290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Clasificación de áreas peligrosas</a:t>
            </a:r>
          </a:p>
        </p:txBody>
      </p:sp>
      <p:sp>
        <p:nvSpPr>
          <p:cNvPr id="10" name="Marcador de contenido 9"/>
          <p:cNvSpPr>
            <a:spLocks noGrp="1"/>
          </p:cNvSpPr>
          <p:nvPr>
            <p:ph idx="1"/>
          </p:nvPr>
        </p:nvSpPr>
        <p:spPr>
          <a:xfrm>
            <a:off x="854793" y="1693332"/>
            <a:ext cx="10829207" cy="5164667"/>
          </a:xfrm>
        </p:spPr>
        <p:txBody>
          <a:bodyPr>
            <a:noAutofit/>
          </a:bodyPr>
          <a:lstStyle/>
          <a:p>
            <a:r>
              <a:rPr lang="es-MX" sz="2400" dirty="0"/>
              <a:t>Las zonas en instalaciones petroquímicas se clasifican según la probabilidad de presencia de atmósferas explosivas</a:t>
            </a:r>
            <a:r>
              <a:rPr lang="es-MX" sz="2400" dirty="0" smtClean="0"/>
              <a:t>: </a:t>
            </a:r>
          </a:p>
          <a:p>
            <a:r>
              <a:rPr lang="es-MX" sz="2400" dirty="0"/>
              <a:t>Sistema americano (</a:t>
            </a:r>
            <a:r>
              <a:rPr lang="es-MX" sz="2400" dirty="0" smtClean="0"/>
              <a:t>NEC)</a:t>
            </a:r>
            <a:br>
              <a:rPr lang="es-MX" sz="2400" dirty="0" smtClean="0"/>
            </a:br>
            <a:r>
              <a:rPr lang="es-MX" sz="2400" dirty="0" smtClean="0"/>
              <a:t>Regulado </a:t>
            </a:r>
            <a:r>
              <a:rPr lang="es-MX" sz="2400" dirty="0"/>
              <a:t>por la </a:t>
            </a:r>
            <a:r>
              <a:rPr lang="es-MX" sz="2400" dirty="0" err="1"/>
              <a:t>National</a:t>
            </a:r>
            <a:r>
              <a:rPr lang="es-MX" sz="2400" dirty="0"/>
              <a:t> </a:t>
            </a:r>
            <a:r>
              <a:rPr lang="es-MX" sz="2400" dirty="0" err="1"/>
              <a:t>Fire</a:t>
            </a:r>
            <a:r>
              <a:rPr lang="es-MX" sz="2400" dirty="0"/>
              <a:t> </a:t>
            </a:r>
            <a:r>
              <a:rPr lang="es-MX" sz="2400" dirty="0" err="1"/>
              <a:t>Protection</a:t>
            </a:r>
            <a:r>
              <a:rPr lang="es-MX" sz="2400" dirty="0"/>
              <a:t> </a:t>
            </a:r>
            <a:r>
              <a:rPr lang="es-MX" sz="2400" dirty="0" err="1"/>
              <a:t>Association</a:t>
            </a:r>
            <a:r>
              <a:rPr lang="es-MX" sz="2400" dirty="0"/>
              <a:t> (NFPA)</a:t>
            </a:r>
          </a:p>
          <a:p>
            <a:pPr lvl="2"/>
            <a:r>
              <a:rPr lang="es-MX" sz="2400" dirty="0"/>
              <a:t>Clase I: gases o vapores inflamables</a:t>
            </a:r>
          </a:p>
          <a:p>
            <a:pPr lvl="2"/>
            <a:r>
              <a:rPr lang="es-MX" sz="2400" dirty="0"/>
              <a:t>División 1: presencia frecuente</a:t>
            </a:r>
          </a:p>
          <a:p>
            <a:pPr lvl="2"/>
            <a:r>
              <a:rPr lang="es-MX" sz="2400" dirty="0"/>
              <a:t>División 2: presencia </a:t>
            </a:r>
            <a:r>
              <a:rPr lang="es-MX" sz="2400" dirty="0" smtClean="0"/>
              <a:t>ocasional</a:t>
            </a:r>
          </a:p>
          <a:p>
            <a:pPr marL="128016" lvl="1" indent="0">
              <a:buNone/>
            </a:pPr>
            <a:endParaRPr lang="es-MX" sz="2400" dirty="0"/>
          </a:p>
          <a:p>
            <a:pPr marL="128016" lvl="1" indent="0">
              <a:buNone/>
            </a:pPr>
            <a:r>
              <a:rPr lang="es-MX" sz="2400" dirty="0" smtClean="0"/>
              <a:t>Sistema </a:t>
            </a:r>
            <a:r>
              <a:rPr lang="es-MX" sz="2400" dirty="0"/>
              <a:t>internacional (ATEX / </a:t>
            </a:r>
            <a:r>
              <a:rPr lang="es-MX" sz="2400" dirty="0" err="1" smtClean="0"/>
              <a:t>IECEx</a:t>
            </a:r>
            <a:r>
              <a:rPr lang="es-MX" sz="2400" dirty="0" smtClean="0"/>
              <a:t>)</a:t>
            </a:r>
            <a:br>
              <a:rPr lang="es-MX" sz="2400" dirty="0" smtClean="0"/>
            </a:br>
            <a:r>
              <a:rPr lang="es-MX" sz="2400" dirty="0" smtClean="0"/>
              <a:t>Regulado </a:t>
            </a:r>
            <a:r>
              <a:rPr lang="es-MX" sz="2400" dirty="0"/>
              <a:t>bajo estándares como los de la International </a:t>
            </a:r>
            <a:r>
              <a:rPr lang="es-MX" sz="2400" dirty="0" err="1"/>
              <a:t>Electrotechnical</a:t>
            </a:r>
            <a:r>
              <a:rPr lang="es-MX" sz="2400" dirty="0"/>
              <a:t> </a:t>
            </a:r>
            <a:r>
              <a:rPr lang="es-MX" sz="2400" dirty="0" err="1"/>
              <a:t>Commission</a:t>
            </a:r>
            <a:endParaRPr lang="es-MX" sz="2400" dirty="0"/>
          </a:p>
          <a:p>
            <a:pPr lvl="2"/>
            <a:r>
              <a:rPr lang="es-MX" sz="2400" dirty="0"/>
              <a:t>Zona 0: atmósfera explosiva constante</a:t>
            </a:r>
          </a:p>
          <a:p>
            <a:pPr lvl="2"/>
            <a:r>
              <a:rPr lang="es-MX" sz="2400" dirty="0"/>
              <a:t>Zona 1: probable en operación normal</a:t>
            </a:r>
          </a:p>
          <a:p>
            <a:pPr lvl="2"/>
            <a:r>
              <a:rPr lang="es-MX" sz="2400" dirty="0"/>
              <a:t>Zona 2: improbable y de corta duración</a:t>
            </a:r>
          </a:p>
          <a:p>
            <a:pPr lvl="2"/>
            <a:endParaRPr lang="es-MX" sz="2400" dirty="0"/>
          </a:p>
          <a:p>
            <a:endParaRPr lang="es-MX" sz="2400" dirty="0" smtClean="0"/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94051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05595" y="2523067"/>
            <a:ext cx="10236539" cy="2675467"/>
          </a:xfrm>
        </p:spPr>
        <p:txBody>
          <a:bodyPr>
            <a:normAutofit/>
          </a:bodyPr>
          <a:lstStyle/>
          <a:p>
            <a:pPr marL="642366" lvl="1" indent="-514350">
              <a:buFont typeface="+mj-lt"/>
              <a:buAutoNum type="arabicPeriod"/>
            </a:pPr>
            <a:r>
              <a:rPr lang="es-MX" sz="2800" dirty="0"/>
              <a:t>Sí se puede usar </a:t>
            </a:r>
            <a:r>
              <a:rPr lang="es-MX" sz="2800" dirty="0" err="1"/>
              <a:t>WiFi</a:t>
            </a:r>
            <a:r>
              <a:rPr lang="es-MX" sz="2800" dirty="0"/>
              <a:t> en laboratorios petroquímicos</a:t>
            </a:r>
            <a:r>
              <a:rPr lang="es-MX" sz="2800" dirty="0" smtClean="0"/>
              <a:t>.</a:t>
            </a:r>
          </a:p>
          <a:p>
            <a:pPr marL="642366" lvl="1" indent="-514350">
              <a:buFont typeface="+mj-lt"/>
              <a:buAutoNum type="arabicPeriod"/>
            </a:pPr>
            <a:r>
              <a:rPr lang="es-MX" sz="2800" dirty="0" smtClean="0"/>
              <a:t>Debe </a:t>
            </a:r>
            <a:r>
              <a:rPr lang="es-MX" sz="2800" dirty="0"/>
              <a:t>ser equipo industrial certificado para atmósferas explosivas</a:t>
            </a:r>
            <a:r>
              <a:rPr lang="es-MX" sz="2800" dirty="0" smtClean="0"/>
              <a:t>.</a:t>
            </a:r>
          </a:p>
          <a:p>
            <a:pPr marL="642366" lvl="1" indent="-514350">
              <a:buFont typeface="+mj-lt"/>
              <a:buAutoNum type="arabicPeriod"/>
            </a:pPr>
            <a:r>
              <a:rPr lang="es-MX" sz="2800" dirty="0" smtClean="0"/>
              <a:t>Está </a:t>
            </a:r>
            <a:r>
              <a:rPr lang="es-MX" sz="2800" dirty="0"/>
              <a:t>regulado por normas internacionales (NEC, ATEX, </a:t>
            </a:r>
            <a:r>
              <a:rPr lang="es-MX" sz="2800" dirty="0" err="1"/>
              <a:t>IECEx</a:t>
            </a:r>
            <a:r>
              <a:rPr lang="es-MX" sz="2800" dirty="0" smtClean="0"/>
              <a:t>).</a:t>
            </a:r>
          </a:p>
          <a:p>
            <a:pPr marL="642366" lvl="1" indent="-514350" algn="just">
              <a:buFont typeface="+mj-lt"/>
              <a:buAutoNum type="arabicPeriod"/>
            </a:pPr>
            <a:r>
              <a:rPr lang="es-MX" sz="2800" dirty="0" smtClean="0"/>
              <a:t>Nunca </a:t>
            </a:r>
            <a:r>
              <a:rPr lang="es-MX" sz="2800" dirty="0"/>
              <a:t>se deben usar dispositivos domésticos comunes en áreas clasificadas.</a:t>
            </a:r>
          </a:p>
        </p:txBody>
      </p:sp>
    </p:spTree>
    <p:extLst>
      <p:ext uri="{BB962C8B-B14F-4D97-AF65-F5344CB8AC3E}">
        <p14:creationId xmlns:p14="http://schemas.microsoft.com/office/powerpoint/2010/main" val="23768622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39</TotalTime>
  <Words>200</Words>
  <Application>Microsoft Office PowerPoint</Application>
  <PresentationFormat>Panorámica</PresentationFormat>
  <Paragraphs>34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Tw Cen MT</vt:lpstr>
      <vt:lpstr>Tw Cen MT Condensed</vt:lpstr>
      <vt:lpstr>Wingdings 3</vt:lpstr>
      <vt:lpstr>Integral</vt:lpstr>
      <vt:lpstr>REDES WIFI EN PETROQUÍMICA LINCE</vt:lpstr>
      <vt:lpstr>¿qué es una petroquímica?</vt:lpstr>
      <vt:lpstr>Riesgo principal: atmósferas explosivas</vt:lpstr>
      <vt:lpstr>USO EN LABORATORIO LINCE</vt:lpstr>
      <vt:lpstr>Clasificación de áreas peligrosas</vt:lpstr>
      <vt:lpstr>Conclusión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WIFI EN PETROQUÍMICA LINCE</dc:title>
  <dc:creator>Titulacion</dc:creator>
  <cp:lastModifiedBy>Titulacion</cp:lastModifiedBy>
  <cp:revision>3</cp:revision>
  <dcterms:created xsi:type="dcterms:W3CDTF">2026-02-23T18:37:44Z</dcterms:created>
  <dcterms:modified xsi:type="dcterms:W3CDTF">2026-02-26T22:00:32Z</dcterms:modified>
</cp:coreProperties>
</file>